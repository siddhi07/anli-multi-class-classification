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Yeseva One" charset="1" panose="00000500000000000000"/>
      <p:regular r:id="rId18"/>
    </p:embeddedFont>
    <p:embeddedFont>
      <p:font typeface="Libre Baskerville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  <a:p>
            <a:r>
              <a:rPr lang="en-US"/>
              <a:t>Hi, I’m Siddhi, and this project focuses on building an end-to-end machine learning pipeline for multi-class classification on the ANLI dataset.</a:t>
            </a:r>
          </a:p>
          <a:p>
            <a:r>
              <a:rPr lang="en-US"/>
              <a:t/>
            </a:r>
          </a:p>
          <a:p>
            <a:r>
              <a:rPr lang="en-US"/>
              <a:t>The goal of this project was not just to achieve high accuracy, but to really understand how different models behave, what tradeoffs exist between them, and how to build a system that is reproducible and production-ready.</a:t>
            </a:r>
          </a:p>
          <a:p>
            <a:r>
              <a:rPr lang="en-US"/>
              <a:t/>
            </a:r>
          </a:p>
          <a:p>
            <a:r>
              <a:rPr lang="en-US"/>
              <a:t>So I’ll walk through the problem, my approach, results, and what I learned from it.”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 Let me start with the task. So i had to classify a pair of sentences — a premise and a hypothesis — into one of three categories: </a:t>
            </a:r>
          </a:p>
          <a:p>
            <a:r>
              <a:rPr lang="en-US"/>
              <a:t>The dataset i was working with had 45,000 training samples. </a:t>
            </a:r>
          </a:p>
          <a:p>
            <a:r>
              <a:rPr lang="en-US"/>
              <a:t>what made the problem more interesting was </a:t>
            </a:r>
          </a:p>
          <a:p>
            <a:r>
              <a:rPr lang="en-US"/>
              <a:t>classes are imbalance - makes evaluation challenging , </a:t>
            </a:r>
          </a:p>
          <a:p>
            <a:r>
              <a:rPr lang="en-US"/>
              <a:t>46% neutral, 32% entailment, 22% contradiction.</a:t>
            </a:r>
          </a:p>
          <a:p>
            <a:r>
              <a:rPr lang="en-US"/>
              <a:t/>
            </a:r>
          </a:p>
          <a:p>
            <a:r>
              <a:rPr lang="en-US"/>
              <a:t>and by adverserial i meant examples are intentionally designed to confuse models</a:t>
            </a:r>
          </a:p>
          <a:p>
            <a:r>
              <a:rPr lang="en-US"/>
              <a:t>so its not straight-forward or pattern based.</a:t>
            </a:r>
          </a:p>
          <a:p>
            <a:r>
              <a:rPr lang="en-US"/>
              <a:t/>
            </a:r>
          </a:p>
          <a:p>
            <a:r>
              <a:rPr lang="en-US"/>
              <a:t>so semantic reasoning becomes important in this task.”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  <a:p>
            <a:r>
              <a:rPr lang="en-US"/>
              <a:t>I actually started with a classical machine learning baseline using TF-IDF [Term Freq- inverse Document Frequency] with Logistic Regression.</a:t>
            </a:r>
          </a:p>
          <a:p>
            <a:r>
              <a:rPr lang="en-US"/>
              <a:t>-intentional</a:t>
            </a:r>
          </a:p>
          <a:p>
            <a:r>
              <a:rPr lang="en-US"/>
              <a:t>didn’t want to just use a complex model without understanding the problem first.</a:t>
            </a:r>
          </a:p>
          <a:p>
            <a:r>
              <a:rPr lang="en-US"/>
              <a:t/>
            </a:r>
          </a:p>
          <a:p>
            <a:r>
              <a:rPr lang="en-US"/>
              <a:t>tf idf  represents the words based on the word importance like how many times the words appears in a sentence and then logistitic regression learns to seperate classes based on these word patterns</a:t>
            </a:r>
          </a:p>
          <a:p>
            <a:r>
              <a:rPr lang="en-US"/>
              <a:t>-</a:t>
            </a:r>
          </a:p>
          <a:p>
            <a:r>
              <a:rPr lang="en-US"/>
              <a:t>- expalin that example</a:t>
            </a:r>
          </a:p>
          <a:p>
            <a:r>
              <a:rPr lang="en-US"/>
              <a:t>- guilt and guilty, not .. no context understanding</a:t>
            </a:r>
          </a:p>
          <a:p>
            <a:r>
              <a:rPr lang="en-US"/>
              <a:t/>
            </a:r>
          </a:p>
          <a:p>
            <a:r>
              <a:rPr lang="en-US"/>
              <a:t>transformers:</a:t>
            </a:r>
          </a:p>
          <a:p>
            <a:r>
              <a:rPr lang="en-US"/>
              <a:t>-understand the relation between words</a:t>
            </a:r>
          </a:p>
          <a:p>
            <a:r>
              <a:rPr lang="en-US"/>
              <a:t>-uses attention mechanism</a:t>
            </a:r>
          </a:p>
          <a:p>
            <a:r>
              <a:rPr lang="en-US"/>
              <a:t>-it looks at all the words in the sentnce and tries to associate every word with each other and decide which ones are importnat and how they connect</a:t>
            </a:r>
          </a:p>
          <a:p>
            <a:r>
              <a:rPr lang="en-US"/>
              <a:t/>
            </a:r>
          </a:p>
          <a:p>
            <a:r>
              <a:rPr lang="en-US"/>
              <a:t>1) used distil .. as it is lightweight smaller and faster version</a:t>
            </a:r>
          </a:p>
          <a:p>
            <a:r>
              <a:rPr lang="en-US"/>
              <a:t>-trains quickly </a:t>
            </a:r>
          </a:p>
          <a:p>
            <a:r>
              <a:rPr lang="en-US"/>
              <a:t>-efficient but slitely less powerful</a:t>
            </a:r>
          </a:p>
          <a:p>
            <a:r>
              <a:rPr lang="en-US"/>
              <a:t/>
            </a:r>
          </a:p>
          <a:p>
            <a:r>
              <a:rPr lang="en-US"/>
              <a:t>2) roberta -full version</a:t>
            </a:r>
          </a:p>
          <a:p>
            <a:r>
              <a:rPr lang="en-US"/>
              <a:t>-more parameters so more versions</a:t>
            </a:r>
          </a:p>
          <a:p>
            <a:r>
              <a:rPr lang="en-US"/>
              <a:t/>
            </a:r>
          </a:p>
          <a:p>
            <a:r>
              <a:rPr lang="en-US"/>
              <a:t>improvement = roberta -baseline / baseline</a:t>
            </a:r>
          </a:p>
          <a:p>
            <a:r>
              <a:rPr lang="en-US"/>
              <a:t>So overall, that’s roughly a 36% improvement from the baseline, which is quite significant.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  <a:p>
            <a:r>
              <a:rPr lang="en-US"/>
              <a:t>Accuracy is misleading for imbalanced data </a:t>
            </a:r>
          </a:p>
          <a:p>
            <a:r>
              <a:rPr lang="en-US"/>
              <a:t>hence using F1  which combines precision and recall</a:t>
            </a:r>
          </a:p>
          <a:p>
            <a:r>
              <a:rPr lang="en-US"/>
              <a:t/>
            </a:r>
          </a:p>
          <a:p>
            <a:r>
              <a:rPr lang="en-US"/>
              <a:t>precision: how correct your predictions are </a:t>
            </a:r>
          </a:p>
          <a:p>
            <a:r>
              <a:rPr lang="en-US"/>
              <a:t>recall :which tells us how much of the actual data we’re able to capture.</a:t>
            </a:r>
          </a:p>
          <a:p>
            <a:r>
              <a:rPr lang="en-US"/>
              <a:t/>
            </a:r>
          </a:p>
          <a:p>
            <a:r>
              <a:rPr lang="en-US"/>
              <a:t>so F1 gives equal weight to all the classes</a:t>
            </a:r>
          </a:p>
          <a:p>
            <a:r>
              <a:rPr lang="en-US"/>
              <a:t>and forecs the model to perform well on every class</a:t>
            </a:r>
          </a:p>
          <a:p>
            <a:r>
              <a:rPr lang="en-US"/>
              <a:t/>
            </a:r>
          </a:p>
          <a:p>
            <a:r>
              <a:rPr lang="en-US"/>
              <a:t>Talk about 47.6 .. it might look like its barely half but the data is hard to work with </a:t>
            </a:r>
          </a:p>
          <a:p>
            <a:r>
              <a:rPr lang="en-US"/>
              <a:t>-subtle negations in the context and temporal reaosning could easily confuse the model</a:t>
            </a:r>
          </a:p>
          <a:p>
            <a:r>
              <a:rPr lang="en-US"/>
              <a:t/>
            </a:r>
          </a:p>
          <a:p>
            <a:r>
              <a:rPr lang="en-US"/>
              <a:t>DeBERTa-v3-large</a:t>
            </a:r>
          </a:p>
          <a:p>
            <a:r>
              <a:rPr lang="en-US"/>
              <a:t>Modern fine-tuned transformers</a:t>
            </a:r>
          </a:p>
          <a:p>
            <a:r>
              <a:rPr lang="en-US"/>
              <a:t>LLMs (GPT-4 level, etc.) can go up to 60 -70% on ANLi</a:t>
            </a:r>
          </a:p>
          <a:p>
            <a:r>
              <a:rPr lang="en-US"/>
              <a:t/>
            </a:r>
          </a:p>
          <a:p>
            <a:r>
              <a:rPr lang="en-US"/>
              <a:t>had used deberat-v3-small but while training it gave multiple issue </a:t>
            </a:r>
          </a:p>
          <a:p>
            <a:r>
              <a:rPr lang="en-US"/>
              <a:t>-model predicted only one class</a:t>
            </a:r>
          </a:p>
          <a:p>
            <a:r>
              <a:rPr lang="en-US"/>
              <a:t>- losses : NAN</a:t>
            </a:r>
          </a:p>
          <a:p>
            <a:r>
              <a:rPr lang="en-US"/>
              <a:t>-did not force and foused on roberta which was giving stead results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  <a:p>
            <a:r>
              <a:rPr lang="en-US"/>
              <a:t>After seeing overall performance numbers i did not just wanted to stop at accuracy and F1 ..I wanted to undersatnd where exactly the model is making mistakes</a:t>
            </a:r>
          </a:p>
          <a:p>
            <a:r>
              <a:rPr lang="en-US"/>
              <a:t/>
            </a:r>
          </a:p>
          <a:p>
            <a:r>
              <a:rPr lang="en-US"/>
              <a:t>recall why ..</a:t>
            </a:r>
          </a:p>
          <a:p>
            <a:r>
              <a:rPr lang="en-US"/>
              <a:t>Here I’m focusing on recall because I want to understand what the model is missing, not just what it gets right.”</a:t>
            </a:r>
          </a:p>
          <a:p>
            <a:r>
              <a:rPr lang="en-US"/>
              <a:t/>
            </a:r>
          </a:p>
          <a:p>
            <a:r>
              <a:rPr lang="en-US"/>
              <a:t>Now if we look at neutral, the recall is much higher — around 86%.</a:t>
            </a:r>
          </a:p>
          <a:p>
            <a:r>
              <a:rPr lang="en-US"/>
              <a:t>So the model is quite good at detecting when there is no clear relationship.</a:t>
            </a:r>
          </a:p>
          <a:p>
            <a:r>
              <a:rPr lang="en-US"/>
              <a:t/>
            </a:r>
          </a:p>
          <a:p>
            <a:r>
              <a:rPr lang="en-US"/>
              <a:t>But the biggest issue is contradiction — recall is only 24.6%.</a:t>
            </a:r>
          </a:p>
          <a:p>
            <a:r>
              <a:rPr lang="en-US"/>
              <a:t>So the model is missing most contradictions, which is a critical weakness.</a:t>
            </a:r>
          </a:p>
          <a:p>
            <a:r>
              <a:rPr lang="en-US"/>
              <a:t/>
            </a:r>
          </a:p>
          <a:p>
            <a:r>
              <a:rPr lang="en-US"/>
              <a:t>And what’s interesting is where those errors go.</a:t>
            </a:r>
          </a:p>
          <a:p>
            <a:r>
              <a:rPr lang="en-US"/>
              <a:t>A large number of contradictions are being predicted as entailment — and vice versa.</a:t>
            </a:r>
          </a:p>
          <a:p>
            <a:r>
              <a:rPr lang="en-US"/>
              <a:t/>
            </a:r>
          </a:p>
          <a:p>
            <a:r>
              <a:rPr lang="en-US"/>
              <a:t>The reason is lexical overlap — words like ‘store’ and ‘PM’ appear in both sentences, so the model thinks they are related.</a:t>
            </a:r>
          </a:p>
          <a:p>
            <a:r>
              <a:rPr lang="en-US"/>
              <a:t>But it fails to understand the logical inversion — that closing at 9 means it cannot be open at 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  <a:p>
            <a:r>
              <a:rPr lang="en-US"/>
              <a:t>highlighting some decisions that i made during the modeling process and why i made them</a:t>
            </a:r>
          </a:p>
          <a:p>
            <a:r>
              <a:rPr lang="en-US"/>
              <a:t/>
            </a:r>
          </a:p>
          <a:p>
            <a:r>
              <a:rPr lang="en-US"/>
              <a:t>- 128 was too short and was truncating imp parts of premise and hypothesis</a:t>
            </a:r>
          </a:p>
          <a:p>
            <a:r>
              <a:rPr lang="en-US"/>
              <a:t>whereas 256 increased the computation time without any successful gain</a:t>
            </a:r>
          </a:p>
          <a:p>
            <a:r>
              <a:rPr lang="en-US"/>
              <a:t>-192 kept a good balance between capturing enough context and time required</a:t>
            </a:r>
          </a:p>
          <a:p>
            <a:r>
              <a:rPr lang="en-US"/>
              <a:t/>
            </a:r>
          </a:p>
          <a:p>
            <a:r>
              <a:rPr lang="en-US"/>
              <a:t>Learning Rate: </a:t>
            </a:r>
          </a:p>
          <a:p>
            <a:r>
              <a:rPr lang="en-US"/>
              <a:t>-2e-5 led to faster convergence and better performance within the limited number of epochs I was training for.</a:t>
            </a:r>
          </a:p>
          <a:p>
            <a:r>
              <a:rPr lang="en-US"/>
              <a:t/>
            </a:r>
          </a:p>
          <a:p>
            <a:r>
              <a:rPr lang="en-US"/>
              <a:t>best model checkpoint.</a:t>
            </a:r>
          </a:p>
          <a:p>
            <a:r>
              <a:rPr lang="en-US"/>
              <a:t>Used F1 rather than accuracy</a:t>
            </a:r>
          </a:p>
          <a:p>
            <a:r>
              <a:rPr lang="en-US"/>
              <a:t>anli is imbalanced and could give higher accuracy by predicting same class again and again</a:t>
            </a:r>
          </a:p>
          <a:p>
            <a:r>
              <a:rPr lang="en-US"/>
              <a:t/>
            </a:r>
          </a:p>
          <a:p>
            <a:r>
              <a:rPr lang="en-US"/>
              <a:t>so F1 to make sure that the model is generalizing better and is performing well across all the classes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  <a:p>
            <a:r>
              <a:rPr lang="en-US"/>
              <a:t>imp part about the ml systems is making it usable and reproducible </a:t>
            </a:r>
          </a:p>
          <a:p>
            <a:r>
              <a:rPr lang="en-US"/>
              <a:t/>
            </a:r>
          </a:p>
          <a:p>
            <a:r>
              <a:rPr lang="en-US"/>
              <a:t>1)docker deployment : </a:t>
            </a:r>
          </a:p>
          <a:p>
            <a:r>
              <a:rPr lang="en-US"/>
              <a:t>containerrized the model by docker</a:t>
            </a:r>
          </a:p>
          <a:p>
            <a:r>
              <a:rPr lang="en-US"/>
              <a:t>by packaging</a:t>
            </a:r>
          </a:p>
          <a:p>
            <a:r>
              <a:rPr lang="en-US"/>
              <a:t>- code</a:t>
            </a:r>
          </a:p>
          <a:p>
            <a:r>
              <a:rPr lang="en-US"/>
              <a:t>-dependencies</a:t>
            </a:r>
          </a:p>
          <a:p>
            <a:r>
              <a:rPr lang="en-US"/>
              <a:t>-saved model in a reproducible env</a:t>
            </a:r>
          </a:p>
          <a:p>
            <a:r>
              <a:rPr lang="en-US"/>
              <a:t>2)then exposed the model using FastAPI and enabled real time prediction by an API endpoint</a:t>
            </a:r>
          </a:p>
          <a:p>
            <a:r>
              <a:rPr lang="en-US"/>
              <a:t/>
            </a:r>
          </a:p>
          <a:p>
            <a:r>
              <a:rPr lang="en-US"/>
              <a:t>3) and tested this by running the container and verifying the /predict endpoint locally</a:t>
            </a:r>
          </a:p>
          <a:p>
            <a:r>
              <a:rPr lang="en-US"/>
              <a:t/>
            </a:r>
          </a:p>
          <a:p>
            <a:r>
              <a:rPr lang="en-US"/>
              <a:t>Model Artifacts:</a:t>
            </a:r>
          </a:p>
          <a:p>
            <a:r>
              <a:rPr lang="en-US"/>
              <a:t>This allows exact same model to be reused with same results without retraining ,..</a:t>
            </a:r>
          </a:p>
          <a:p>
            <a:r>
              <a:rPr lang="en-US"/>
              <a:t>fixed random seed = reusability</a:t>
            </a:r>
          </a:p>
          <a:p>
            <a:r>
              <a:rPr lang="en-US"/>
              <a:t>This makes the model production-ready and easy to deploy anywhere.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  <a:p>
            <a:r>
              <a:rPr lang="en-US"/>
              <a:t>Overall, transformers outperform classical models because they capture meaning, not just words.</a:t>
            </a:r>
          </a:p>
          <a:p>
            <a:r>
              <a:rPr lang="en-US"/>
              <a:t>ANLI requires deep reasoning, which makes it challenging.</a:t>
            </a:r>
          </a:p>
          <a:p>
            <a:r>
              <a:rPr lang="en-US"/>
              <a:t>All my decisions were experiment-driven, and I designed the pipeline to be modular.</a:t>
            </a:r>
          </a:p>
          <a:p>
            <a:r>
              <a:rPr lang="en-US"/>
              <a:t>Most importantly, error analysis helped me understand where the model fails — not just how it performs.</a:t>
            </a:r>
          </a:p>
          <a:p>
            <a:r>
              <a:rPr lang="en-US"/>
              <a:t>So this project was more about understanding the problem deeply than just optimizing metrics.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  <a:p>
            <a:r>
              <a:rPr lang="en-US"/>
              <a:t>1) data diversity and help model generalize better than what my model is doing right now for certain contradictory examples</a:t>
            </a:r>
          </a:p>
          <a:p>
            <a:r>
              <a:rPr lang="en-US"/>
              <a:t/>
            </a:r>
          </a:p>
          <a:p>
            <a:r>
              <a:rPr lang="en-US"/>
              <a:t>2) first train on MNLI or SNLI, which are larger and less adversarial.</a:t>
            </a:r>
          </a:p>
          <a:p>
            <a:r>
              <a:rPr lang="en-US"/>
              <a:t>builds stronger foundation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7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531" y="3632200"/>
            <a:ext cx="17287399" cy="325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00"/>
              </a:lnSpc>
            </a:pPr>
            <a:r>
              <a:rPr lang="en-US" sz="12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ANLI Multi-Class Classification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83182" y="1089025"/>
            <a:ext cx="1172163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End to End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83182" y="8858250"/>
            <a:ext cx="1172163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Siddhi Nirmale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5D1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2914" y="839238"/>
            <a:ext cx="6143253" cy="883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6"/>
              </a:lnSpc>
            </a:pPr>
            <a:r>
              <a:rPr lang="en-US" sz="5624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2914" y="2263531"/>
            <a:ext cx="1797472" cy="46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9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Task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2914" y="2863301"/>
            <a:ext cx="9280769" cy="40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Classify premise-hypothesis pairs into 3 classes: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2914" y="3479902"/>
            <a:ext cx="9280769" cy="130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6868" indent="-173434" lvl="1">
              <a:lnSpc>
                <a:spcPts val="359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Entailment</a:t>
            </a:r>
          </a:p>
          <a:p>
            <a:pPr algn="l" marL="346868" indent="-173434" lvl="1">
              <a:lnSpc>
                <a:spcPts val="359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Neutral</a:t>
            </a:r>
          </a:p>
          <a:p>
            <a:pPr algn="l" marL="346868" indent="-173434" lvl="1">
              <a:lnSpc>
                <a:spcPts val="359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Contradiction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38708" y="2538117"/>
            <a:ext cx="1324198" cy="75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5605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45K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53974" y="3594792"/>
            <a:ext cx="2893665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Training samples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14930" y="2538117"/>
            <a:ext cx="416496" cy="75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5605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34786" y="3594792"/>
            <a:ext cx="1176784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Classes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7659" y="4726781"/>
            <a:ext cx="486296" cy="75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5605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✓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16718" y="5783466"/>
            <a:ext cx="1968178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Imbalanced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80030" y="4726781"/>
            <a:ext cx="486296" cy="75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5605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✓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77487" y="5783466"/>
            <a:ext cx="189138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Adversarial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2914" y="6880050"/>
            <a:ext cx="16462172" cy="42120"/>
            <a:chOff x="0" y="0"/>
            <a:chExt cx="21949562" cy="561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9538" cy="56134"/>
            </a:xfrm>
            <a:custGeom>
              <a:avLst/>
              <a:gdLst/>
              <a:ahLst/>
              <a:cxnLst/>
              <a:rect r="r" b="b" t="t" l="l"/>
              <a:pathLst>
                <a:path h="56134" w="21949538">
                  <a:moveTo>
                    <a:pt x="0" y="0"/>
                  </a:moveTo>
                  <a:lnTo>
                    <a:pt x="21949538" y="0"/>
                  </a:lnTo>
                  <a:lnTo>
                    <a:pt x="21949538" y="56134"/>
                  </a:lnTo>
                  <a:lnTo>
                    <a:pt x="0" y="56134"/>
                  </a:lnTo>
                  <a:close/>
                </a:path>
              </a:pathLst>
            </a:custGeom>
            <a:solidFill>
              <a:srgbClr val="9B9794">
                <a:alpha val="24706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2914" y="7262965"/>
            <a:ext cx="2606501" cy="45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It's Hard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2914" y="7982693"/>
            <a:ext cx="16462172" cy="85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6868" indent="-173434" lvl="1">
              <a:lnSpc>
                <a:spcPts val="359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Requires understanding relationships between sentences, not just word overlap</a:t>
            </a:r>
          </a:p>
          <a:p>
            <a:pPr algn="l" marL="346722" indent="-173361" lvl="1">
              <a:lnSpc>
                <a:spcPts val="359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ANLI requires semantic reasoning, not pattern matching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5D1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0140" y="1076916"/>
            <a:ext cx="6838131" cy="8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51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Why This Approach?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0140" y="2451344"/>
            <a:ext cx="532968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Classical ML (TF-IDF + LogReg)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0140" y="3038627"/>
            <a:ext cx="7943698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1787" indent="-165894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Baseline to show limitation</a:t>
            </a:r>
          </a:p>
          <a:p>
            <a:pPr algn="l" marL="331787" indent="-165894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Captures word frequency, not meaning</a:t>
            </a:r>
          </a:p>
          <a:p>
            <a:pPr algn="l" marL="331787" indent="-165894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"Not guilty" ≠ "guilty" = same words, opposite meaning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63678" y="2451344"/>
            <a:ext cx="7006233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Transformers (RoBERTa, DistilRoBERTa)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63678" y="3038627"/>
            <a:ext cx="7943698" cy="157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9345" indent="-159673" lvl="1">
              <a:lnSpc>
                <a:spcPts val="3176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Understand context via attention</a:t>
            </a:r>
          </a:p>
          <a:p>
            <a:pPr algn="l" marL="319345" indent="-159673" lvl="1">
              <a:lnSpc>
                <a:spcPts val="3176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relationships between premise and hypothesis</a:t>
            </a:r>
          </a:p>
          <a:p>
            <a:pPr algn="l" marL="319211" indent="-159605" lvl="1">
              <a:lnSpc>
                <a:spcPts val="3176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encoder-only? </a:t>
            </a:r>
          </a:p>
          <a:p>
            <a:pPr algn="l" marL="914335" indent="-304778" lvl="2">
              <a:lnSpc>
                <a:spcPts val="3176"/>
              </a:lnSpc>
              <a:buFont typeface="Arial"/>
              <a:buChar char="⚬"/>
            </a:pPr>
            <a:r>
              <a:rPr lang="en-US" sz="211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Efficient + accurate for fixed-pair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0140" y="5281612"/>
            <a:ext cx="254317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Progression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0140" y="6119517"/>
            <a:ext cx="5502478" cy="1017241"/>
            <a:chOff x="0" y="0"/>
            <a:chExt cx="7336638" cy="135632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336663" cy="1356360"/>
            </a:xfrm>
            <a:custGeom>
              <a:avLst/>
              <a:gdLst/>
              <a:ahLst/>
              <a:cxnLst/>
              <a:rect r="r" b="b" t="t" l="l"/>
              <a:pathLst>
                <a:path h="1356360" w="7336663">
                  <a:moveTo>
                    <a:pt x="0" y="0"/>
                  </a:moveTo>
                  <a:lnTo>
                    <a:pt x="7336663" y="0"/>
                  </a:lnTo>
                  <a:lnTo>
                    <a:pt x="7336663" y="1356360"/>
                  </a:lnTo>
                  <a:lnTo>
                    <a:pt x="0" y="1356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8" r="0" b="-6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4343" y="7336184"/>
            <a:ext cx="136200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Baseline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4343" y="7841752"/>
            <a:ext cx="499407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34.9%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92618" y="6119517"/>
            <a:ext cx="5502621" cy="1017241"/>
            <a:chOff x="0" y="0"/>
            <a:chExt cx="7336828" cy="135632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336790" cy="1356360"/>
            </a:xfrm>
            <a:custGeom>
              <a:avLst/>
              <a:gdLst/>
              <a:ahLst/>
              <a:cxnLst/>
              <a:rect r="r" b="b" t="t" l="l"/>
              <a:pathLst>
                <a:path h="1356360" w="7336790">
                  <a:moveTo>
                    <a:pt x="0" y="0"/>
                  </a:moveTo>
                  <a:lnTo>
                    <a:pt x="7336790" y="0"/>
                  </a:lnTo>
                  <a:lnTo>
                    <a:pt x="7336790" y="1356360"/>
                  </a:lnTo>
                  <a:lnTo>
                    <a:pt x="0" y="1356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9" r="0" b="-6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46812" y="7336184"/>
            <a:ext cx="2317552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DistilRoBERTa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46812" y="7841752"/>
            <a:ext cx="49942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45.5%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895239" y="6119517"/>
            <a:ext cx="5502621" cy="1017241"/>
            <a:chOff x="0" y="0"/>
            <a:chExt cx="7336828" cy="1356322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336790" cy="1356360"/>
            </a:xfrm>
            <a:custGeom>
              <a:avLst/>
              <a:gdLst/>
              <a:ahLst/>
              <a:cxnLst/>
              <a:rect r="r" b="b" t="t" l="l"/>
              <a:pathLst>
                <a:path h="1356360" w="7336790">
                  <a:moveTo>
                    <a:pt x="0" y="0"/>
                  </a:moveTo>
                  <a:lnTo>
                    <a:pt x="7336790" y="0"/>
                  </a:lnTo>
                  <a:lnTo>
                    <a:pt x="7336790" y="1356360"/>
                  </a:lnTo>
                  <a:lnTo>
                    <a:pt x="0" y="1356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9" r="0" b="-66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149433" y="7336184"/>
            <a:ext cx="1452488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RoBERTa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49433" y="7841752"/>
            <a:ext cx="49942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47.6% (+36% total)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0140" y="8738445"/>
            <a:ext cx="1650772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This justifies the transformer approach.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5D1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27289"/>
            <a:ext cx="9745117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Results: Model Comparison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113637"/>
            <a:ext cx="16313048" cy="3280172"/>
            <a:chOff x="0" y="0"/>
            <a:chExt cx="21750731" cy="43735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50655" cy="4373499"/>
            </a:xfrm>
            <a:custGeom>
              <a:avLst/>
              <a:gdLst/>
              <a:ahLst/>
              <a:cxnLst/>
              <a:rect r="r" b="b" t="t" l="l"/>
              <a:pathLst>
                <a:path h="4373499" w="21750655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21585174" y="0"/>
                  </a:lnTo>
                  <a:lnTo>
                    <a:pt x="21585174" y="6350"/>
                  </a:lnTo>
                  <a:lnTo>
                    <a:pt x="21585174" y="0"/>
                  </a:lnTo>
                  <a:cubicBezTo>
                    <a:pt x="21676613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4208399"/>
                  </a:lnTo>
                  <a:lnTo>
                    <a:pt x="21744305" y="4208399"/>
                  </a:lnTo>
                  <a:lnTo>
                    <a:pt x="21750655" y="4208399"/>
                  </a:lnTo>
                  <a:cubicBezTo>
                    <a:pt x="21750655" y="4299585"/>
                    <a:pt x="21676488" y="4373499"/>
                    <a:pt x="21585174" y="4373499"/>
                  </a:cubicBezTo>
                  <a:lnTo>
                    <a:pt x="21585174" y="4367149"/>
                  </a:lnTo>
                  <a:lnTo>
                    <a:pt x="21585174" y="4373499"/>
                  </a:lnTo>
                  <a:lnTo>
                    <a:pt x="165481" y="4373499"/>
                  </a:lnTo>
                  <a:lnTo>
                    <a:pt x="165481" y="4367149"/>
                  </a:lnTo>
                  <a:lnTo>
                    <a:pt x="165481" y="4373499"/>
                  </a:lnTo>
                  <a:cubicBezTo>
                    <a:pt x="74041" y="4373499"/>
                    <a:pt x="0" y="4299585"/>
                    <a:pt x="0" y="420839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208399"/>
                  </a:lnTo>
                  <a:lnTo>
                    <a:pt x="6350" y="4208399"/>
                  </a:lnTo>
                  <a:lnTo>
                    <a:pt x="12700" y="4208399"/>
                  </a:lnTo>
                  <a:cubicBezTo>
                    <a:pt x="12700" y="4292600"/>
                    <a:pt x="81153" y="4360799"/>
                    <a:pt x="165481" y="4360799"/>
                  </a:cubicBezTo>
                  <a:lnTo>
                    <a:pt x="21585174" y="4360799"/>
                  </a:lnTo>
                  <a:cubicBezTo>
                    <a:pt x="21669629" y="4360799"/>
                    <a:pt x="21737955" y="4292600"/>
                    <a:pt x="21737955" y="4208399"/>
                  </a:cubicBezTo>
                  <a:lnTo>
                    <a:pt x="21737955" y="165100"/>
                  </a:lnTo>
                  <a:cubicBezTo>
                    <a:pt x="21737955" y="80899"/>
                    <a:pt x="21669502" y="12700"/>
                    <a:pt x="2158517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AD5D1">
                <a:alpha val="392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1763" y="3127924"/>
            <a:ext cx="16284473" cy="812902"/>
            <a:chOff x="0" y="0"/>
            <a:chExt cx="21712631" cy="10838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9B9794">
                <a:alpha val="0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427" y="3193256"/>
            <a:ext cx="4857302" cy="52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687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19297" y="3193256"/>
            <a:ext cx="4851054" cy="52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687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46909" y="3193256"/>
            <a:ext cx="4855816" cy="52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687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Macro F1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01763" y="3940816"/>
            <a:ext cx="16284473" cy="812902"/>
            <a:chOff x="0" y="0"/>
            <a:chExt cx="21712631" cy="1083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DAD5D1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85427" y="4034733"/>
            <a:ext cx="4857302" cy="4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TF-IDF + LR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19297" y="4034733"/>
            <a:ext cx="4851054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34.9%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6909" y="4034733"/>
            <a:ext cx="4855816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33.3%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1763" y="4753718"/>
            <a:ext cx="16284473" cy="812902"/>
            <a:chOff x="0" y="0"/>
            <a:chExt cx="21712631" cy="10838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9B9794">
                <a:alpha val="0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85427" y="4847634"/>
            <a:ext cx="4857302" cy="4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DistilRoBERTa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19297" y="4847634"/>
            <a:ext cx="4851054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45.5%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46909" y="4847634"/>
            <a:ext cx="4855816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45.0%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1763" y="5566620"/>
            <a:ext cx="16284473" cy="812902"/>
            <a:chOff x="0" y="0"/>
            <a:chExt cx="21712631" cy="10838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DAD5D1">
                <a:alpha val="0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85427" y="5660527"/>
            <a:ext cx="4857302" cy="4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RoBERTa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19297" y="5660527"/>
            <a:ext cx="4851054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47.6%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46909" y="5660527"/>
            <a:ext cx="4855816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47.2%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6707981"/>
            <a:ext cx="16303523" cy="1913487"/>
            <a:chOff x="0" y="0"/>
            <a:chExt cx="21738031" cy="25513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37955" cy="2551303"/>
            </a:xfrm>
            <a:custGeom>
              <a:avLst/>
              <a:gdLst/>
              <a:ahLst/>
              <a:cxnLst/>
              <a:rect r="r" b="b" t="t" l="l"/>
              <a:pathLst>
                <a:path h="2551303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2392553"/>
                  </a:lnTo>
                  <a:cubicBezTo>
                    <a:pt x="21737955" y="2480183"/>
                    <a:pt x="21666836" y="2551303"/>
                    <a:pt x="21579205" y="2551303"/>
                  </a:cubicBezTo>
                  <a:lnTo>
                    <a:pt x="158750" y="2551303"/>
                  </a:lnTo>
                  <a:cubicBezTo>
                    <a:pt x="71120" y="2551303"/>
                    <a:pt x="0" y="2480183"/>
                    <a:pt x="0" y="2392553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75759" y="7147617"/>
            <a:ext cx="354359" cy="283521"/>
            <a:chOff x="0" y="0"/>
            <a:chExt cx="472478" cy="378028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913630" y="6976615"/>
            <a:ext cx="15098611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+36% improvement (baseline to RoBERTa)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13630" y="7486202"/>
            <a:ext cx="15098611" cy="86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moderate? 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ANLI is adversarial. Tests semantic reasoning limits.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5D1">
                <a:alpha val="90196"/>
              </a:srgbClr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28650" y="1979933"/>
          <a:ext cx="16630650" cy="3215432"/>
        </p:xfrm>
        <a:graphic>
          <a:graphicData uri="http://schemas.openxmlformats.org/drawingml/2006/table">
            <a:tbl>
              <a:tblPr/>
              <a:tblGrid>
                <a:gridCol w="3138639"/>
                <a:gridCol w="3138639"/>
                <a:gridCol w="3138639"/>
                <a:gridCol w="3607366"/>
                <a:gridCol w="3607366"/>
              </a:tblGrid>
              <a:tr h="8675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04"/>
                        </a:lnSpc>
                        <a:defRPr/>
                      </a:pPr>
                      <a:r>
                        <a:rPr lang="en-US" sz="20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True \ Predicted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Entailment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Neutral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Contradiction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3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Entailment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50.0%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3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Neutral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86.6%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7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Contradiction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161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82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24.6%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628650" y="435466"/>
            <a:ext cx="9910316" cy="62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3937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Error Analysis: Understanding Failures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8650" y="1249706"/>
            <a:ext cx="3387998" cy="32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2"/>
              </a:lnSpc>
            </a:pPr>
            <a:r>
              <a:rPr lang="en-US" sz="1987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Confusion Matrix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650" y="5797216"/>
            <a:ext cx="7362408" cy="308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7"/>
              </a:lnSpc>
            </a:pPr>
            <a:r>
              <a:rPr lang="en-US" sz="219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Key reads :</a:t>
            </a:r>
          </a:p>
          <a:p>
            <a:pPr algn="just">
              <a:lnSpc>
                <a:spcPts val="2757"/>
              </a:lnSpc>
            </a:pPr>
          </a:p>
          <a:p>
            <a:pPr algn="just" marL="472821" indent="-236410" lvl="1">
              <a:lnSpc>
                <a:spcPts val="2757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Neutral recall: 86.8% (model good at detecting no relationship) </a:t>
            </a:r>
          </a:p>
          <a:p>
            <a:pPr algn="just" marL="472821" indent="-236410" lvl="1">
              <a:lnSpc>
                <a:spcPts val="2757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Contradiction recall: 24.6% (critical weakness) </a:t>
            </a:r>
          </a:p>
          <a:p>
            <a:pPr algn="just" marL="472821" indent="-236410" lvl="1">
              <a:lnSpc>
                <a:spcPts val="2757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Bidirectional E↔C confusion: 224 errors (27% of misclassifications)</a:t>
            </a:r>
          </a:p>
          <a:p>
            <a:pPr algn="just">
              <a:lnSpc>
                <a:spcPts val="2757"/>
              </a:lnSpc>
            </a:pPr>
          </a:p>
          <a:p>
            <a:pPr algn="just">
              <a:lnSpc>
                <a:spcPts val="275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5711491"/>
            <a:ext cx="8511188" cy="414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  <a:spcBef>
                <a:spcPct val="0"/>
              </a:spcBef>
            </a:pPr>
            <a:r>
              <a:rPr lang="en-US" sz="228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HIGHEST ERROR SOURCE:  Negation &amp; Logical Inversion</a:t>
            </a:r>
          </a:p>
          <a:p>
            <a:pPr algn="l">
              <a:lnSpc>
                <a:spcPts val="3713"/>
              </a:lnSpc>
              <a:spcBef>
                <a:spcPct val="0"/>
              </a:spcBef>
            </a:pPr>
            <a:r>
              <a:rPr lang="en-US" sz="228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Entailment ↔ Contradiction confusion (224 errors)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</a:p>
          <a:p>
            <a:pPr algn="l">
              <a:lnSpc>
                <a:spcPts val="3713"/>
              </a:lnSpc>
              <a:spcBef>
                <a:spcPct val="0"/>
              </a:spcBef>
            </a:pPr>
            <a:r>
              <a:rPr lang="en-US" sz="228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 example:</a:t>
            </a:r>
          </a:p>
          <a:p>
            <a:pPr algn="l">
              <a:lnSpc>
                <a:spcPts val="3713"/>
              </a:lnSpc>
              <a:spcBef>
                <a:spcPct val="0"/>
              </a:spcBef>
            </a:pPr>
            <a:r>
              <a:rPr lang="en-US" sz="228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Premise: "Store closes at 9 PM"</a:t>
            </a:r>
          </a:p>
          <a:p>
            <a:pPr algn="l">
              <a:lnSpc>
                <a:spcPts val="3713"/>
              </a:lnSpc>
              <a:spcBef>
                <a:spcPct val="0"/>
              </a:spcBef>
            </a:pPr>
            <a:r>
              <a:rPr lang="en-US" sz="228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Hypothesis: "Store is open at 10 PM"</a:t>
            </a:r>
          </a:p>
          <a:p>
            <a:pPr algn="l">
              <a:lnSpc>
                <a:spcPts val="3713"/>
              </a:lnSpc>
              <a:spcBef>
                <a:spcPct val="0"/>
              </a:spcBef>
            </a:pPr>
            <a:r>
              <a:rPr lang="en-US" sz="228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True: Contradiction  |   Model predicted: Entailment</a:t>
            </a:r>
          </a:p>
          <a:p>
            <a:pPr algn="l">
              <a:lnSpc>
                <a:spcPts val="3550"/>
              </a:lnSpc>
              <a:spcBef>
                <a:spcPct val="0"/>
              </a:spcBef>
            </a:pPr>
            <a:r>
              <a:rPr lang="en-US" sz="218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Why: Lexical Overlap ("store," "PM")  masks logical inversion.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5D1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29966"/>
            <a:ext cx="10366772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Key Decisions &amp; Justification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116313"/>
            <a:ext cx="5254971" cy="5507384"/>
            <a:chOff x="0" y="0"/>
            <a:chExt cx="7006628" cy="7343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7330440"/>
            </a:xfrm>
            <a:custGeom>
              <a:avLst/>
              <a:gdLst/>
              <a:ahLst/>
              <a:cxnLst/>
              <a:rect r="r" b="b" t="t" l="l"/>
              <a:pathLst>
                <a:path h="7330440" w="699389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835140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7171690"/>
                  </a:lnTo>
                  <a:cubicBezTo>
                    <a:pt x="6993890" y="7259320"/>
                    <a:pt x="6922770" y="7330440"/>
                    <a:pt x="6835140" y="7330440"/>
                  </a:cubicBezTo>
                  <a:lnTo>
                    <a:pt x="158750" y="7330440"/>
                  </a:lnTo>
                  <a:cubicBezTo>
                    <a:pt x="71120" y="7330440"/>
                    <a:pt x="0" y="7259320"/>
                    <a:pt x="0" y="7171690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7343140"/>
            </a:xfrm>
            <a:custGeom>
              <a:avLst/>
              <a:gdLst/>
              <a:ahLst/>
              <a:cxnLst/>
              <a:rect r="r" b="b" t="t" l="l"/>
              <a:pathLst>
                <a:path h="7343140" w="700659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41490" y="0"/>
                  </a:lnTo>
                  <a:lnTo>
                    <a:pt x="6841490" y="6350"/>
                  </a:lnTo>
                  <a:lnTo>
                    <a:pt x="6841490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7178040"/>
                  </a:lnTo>
                  <a:lnTo>
                    <a:pt x="7000240" y="7178040"/>
                  </a:lnTo>
                  <a:lnTo>
                    <a:pt x="7006590" y="7178040"/>
                  </a:lnTo>
                  <a:cubicBezTo>
                    <a:pt x="7006590" y="7269226"/>
                    <a:pt x="6932676" y="7343140"/>
                    <a:pt x="6841490" y="7343140"/>
                  </a:cubicBezTo>
                  <a:lnTo>
                    <a:pt x="6841490" y="7336790"/>
                  </a:lnTo>
                  <a:lnTo>
                    <a:pt x="6841490" y="7343140"/>
                  </a:lnTo>
                  <a:lnTo>
                    <a:pt x="165100" y="7343140"/>
                  </a:lnTo>
                  <a:lnTo>
                    <a:pt x="165100" y="7336790"/>
                  </a:lnTo>
                  <a:lnTo>
                    <a:pt x="165100" y="7343140"/>
                  </a:lnTo>
                  <a:cubicBezTo>
                    <a:pt x="73914" y="7343140"/>
                    <a:pt x="0" y="7269226"/>
                    <a:pt x="0" y="71780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7178040"/>
                  </a:lnTo>
                  <a:lnTo>
                    <a:pt x="6350" y="7178040"/>
                  </a:lnTo>
                  <a:lnTo>
                    <a:pt x="12700" y="7178040"/>
                  </a:lnTo>
                  <a:cubicBezTo>
                    <a:pt x="12700" y="7262241"/>
                    <a:pt x="80899" y="7330440"/>
                    <a:pt x="165100" y="7330440"/>
                  </a:cubicBezTo>
                  <a:lnTo>
                    <a:pt x="6841490" y="7330440"/>
                  </a:lnTo>
                  <a:cubicBezTo>
                    <a:pt x="6925691" y="7330440"/>
                    <a:pt x="6993890" y="7262241"/>
                    <a:pt x="6993890" y="7178040"/>
                  </a:cubicBezTo>
                  <a:lnTo>
                    <a:pt x="6993890" y="165100"/>
                  </a:lnTo>
                  <a:cubicBezTo>
                    <a:pt x="6993890" y="80899"/>
                    <a:pt x="6925691" y="12700"/>
                    <a:pt x="6841490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3414122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64792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4529138"/>
            <a:ext cx="4002286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Token Max Length: 192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5075482"/>
            <a:ext cx="4659363" cy="175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Analysed token distribution. </a:t>
            </a:r>
          </a:p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Tested  128, 160, 256. 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192 captures longer premise-hypothesis pairs efficiently.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3116313"/>
            <a:ext cx="5254971" cy="5507384"/>
            <a:chOff x="0" y="0"/>
            <a:chExt cx="7006628" cy="73431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7330440"/>
            </a:xfrm>
            <a:custGeom>
              <a:avLst/>
              <a:gdLst/>
              <a:ahLst/>
              <a:cxnLst/>
              <a:rect r="r" b="b" t="t" l="l"/>
              <a:pathLst>
                <a:path h="7330440" w="699389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835140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7171690"/>
                  </a:lnTo>
                  <a:cubicBezTo>
                    <a:pt x="6993890" y="7259320"/>
                    <a:pt x="6922770" y="7330440"/>
                    <a:pt x="6835140" y="7330440"/>
                  </a:cubicBezTo>
                  <a:lnTo>
                    <a:pt x="158750" y="7330440"/>
                  </a:lnTo>
                  <a:cubicBezTo>
                    <a:pt x="71120" y="7330440"/>
                    <a:pt x="0" y="7259320"/>
                    <a:pt x="0" y="7171690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7343140"/>
            </a:xfrm>
            <a:custGeom>
              <a:avLst/>
              <a:gdLst/>
              <a:ahLst/>
              <a:cxnLst/>
              <a:rect r="r" b="b" t="t" l="l"/>
              <a:pathLst>
                <a:path h="7343140" w="700659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41490" y="0"/>
                  </a:lnTo>
                  <a:lnTo>
                    <a:pt x="6841490" y="6350"/>
                  </a:lnTo>
                  <a:lnTo>
                    <a:pt x="6841490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7178040"/>
                  </a:lnTo>
                  <a:lnTo>
                    <a:pt x="7000240" y="7178040"/>
                  </a:lnTo>
                  <a:lnTo>
                    <a:pt x="7006590" y="7178040"/>
                  </a:lnTo>
                  <a:cubicBezTo>
                    <a:pt x="7006590" y="7269226"/>
                    <a:pt x="6932676" y="7343140"/>
                    <a:pt x="6841490" y="7343140"/>
                  </a:cubicBezTo>
                  <a:lnTo>
                    <a:pt x="6841490" y="7336790"/>
                  </a:lnTo>
                  <a:lnTo>
                    <a:pt x="6841490" y="7343140"/>
                  </a:lnTo>
                  <a:lnTo>
                    <a:pt x="165100" y="7343140"/>
                  </a:lnTo>
                  <a:lnTo>
                    <a:pt x="165100" y="7336790"/>
                  </a:lnTo>
                  <a:lnTo>
                    <a:pt x="165100" y="7343140"/>
                  </a:lnTo>
                  <a:cubicBezTo>
                    <a:pt x="73914" y="7343140"/>
                    <a:pt x="0" y="7269226"/>
                    <a:pt x="0" y="71780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7178040"/>
                  </a:lnTo>
                  <a:lnTo>
                    <a:pt x="6350" y="7178040"/>
                  </a:lnTo>
                  <a:lnTo>
                    <a:pt x="12700" y="7178040"/>
                  </a:lnTo>
                  <a:cubicBezTo>
                    <a:pt x="12700" y="7262241"/>
                    <a:pt x="80899" y="7330440"/>
                    <a:pt x="165100" y="7330440"/>
                  </a:cubicBezTo>
                  <a:lnTo>
                    <a:pt x="6841490" y="7330440"/>
                  </a:lnTo>
                  <a:cubicBezTo>
                    <a:pt x="6925691" y="7330440"/>
                    <a:pt x="6993890" y="7262241"/>
                    <a:pt x="6993890" y="7178040"/>
                  </a:cubicBezTo>
                  <a:lnTo>
                    <a:pt x="6993890" y="165100"/>
                  </a:lnTo>
                  <a:cubicBezTo>
                    <a:pt x="6993890" y="80899"/>
                    <a:pt x="6925691" y="12700"/>
                    <a:pt x="6841490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2" y="3414122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5" y="364792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8293" t="0" r="-18291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2" y="4529138"/>
            <a:ext cx="3438227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Learning Rate: 2e-5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2" y="5075482"/>
            <a:ext cx="4755325" cy="130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Tested 2e-5 vs 1.5e-5. 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Higher rate → faster and better convergence in 5 epochs.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1" y="3116313"/>
            <a:ext cx="5254971" cy="5507384"/>
            <a:chOff x="0" y="0"/>
            <a:chExt cx="7006628" cy="73431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7330440"/>
            </a:xfrm>
            <a:custGeom>
              <a:avLst/>
              <a:gdLst/>
              <a:ahLst/>
              <a:cxnLst/>
              <a:rect r="r" b="b" t="t" l="l"/>
              <a:pathLst>
                <a:path h="7330440" w="699389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835140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7171690"/>
                  </a:lnTo>
                  <a:cubicBezTo>
                    <a:pt x="6993890" y="7259320"/>
                    <a:pt x="6922770" y="7330440"/>
                    <a:pt x="6835140" y="7330440"/>
                  </a:cubicBezTo>
                  <a:lnTo>
                    <a:pt x="158750" y="7330440"/>
                  </a:lnTo>
                  <a:cubicBezTo>
                    <a:pt x="71120" y="7330440"/>
                    <a:pt x="0" y="7259320"/>
                    <a:pt x="0" y="7171690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7343140"/>
            </a:xfrm>
            <a:custGeom>
              <a:avLst/>
              <a:gdLst/>
              <a:ahLst/>
              <a:cxnLst/>
              <a:rect r="r" b="b" t="t" l="l"/>
              <a:pathLst>
                <a:path h="7343140" w="700659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841490" y="0"/>
                  </a:lnTo>
                  <a:lnTo>
                    <a:pt x="6841490" y="6350"/>
                  </a:lnTo>
                  <a:lnTo>
                    <a:pt x="6841490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7178040"/>
                  </a:lnTo>
                  <a:lnTo>
                    <a:pt x="7000240" y="7178040"/>
                  </a:lnTo>
                  <a:lnTo>
                    <a:pt x="7006590" y="7178040"/>
                  </a:lnTo>
                  <a:cubicBezTo>
                    <a:pt x="7006590" y="7269226"/>
                    <a:pt x="6932676" y="7343140"/>
                    <a:pt x="6841490" y="7343140"/>
                  </a:cubicBezTo>
                  <a:lnTo>
                    <a:pt x="6841490" y="7336790"/>
                  </a:lnTo>
                  <a:lnTo>
                    <a:pt x="6841490" y="7343140"/>
                  </a:lnTo>
                  <a:lnTo>
                    <a:pt x="165100" y="7343140"/>
                  </a:lnTo>
                  <a:lnTo>
                    <a:pt x="165100" y="7336790"/>
                  </a:lnTo>
                  <a:lnTo>
                    <a:pt x="165100" y="7343140"/>
                  </a:lnTo>
                  <a:cubicBezTo>
                    <a:pt x="73914" y="7343140"/>
                    <a:pt x="0" y="7269226"/>
                    <a:pt x="0" y="71780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7178040"/>
                  </a:lnTo>
                  <a:lnTo>
                    <a:pt x="6350" y="7178040"/>
                  </a:lnTo>
                  <a:lnTo>
                    <a:pt x="12700" y="7178040"/>
                  </a:lnTo>
                  <a:cubicBezTo>
                    <a:pt x="12700" y="7262241"/>
                    <a:pt x="80899" y="7330440"/>
                    <a:pt x="165100" y="7330440"/>
                  </a:cubicBezTo>
                  <a:lnTo>
                    <a:pt x="6841490" y="7330440"/>
                  </a:lnTo>
                  <a:cubicBezTo>
                    <a:pt x="6925691" y="7330440"/>
                    <a:pt x="6993890" y="7262241"/>
                    <a:pt x="6993890" y="7178040"/>
                  </a:cubicBezTo>
                  <a:lnTo>
                    <a:pt x="6993890" y="165100"/>
                  </a:lnTo>
                  <a:cubicBezTo>
                    <a:pt x="6993890" y="80899"/>
                    <a:pt x="6925691" y="12700"/>
                    <a:pt x="6841490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3414122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364792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98" r="0" b="-6096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4529138"/>
            <a:ext cx="4659363" cy="765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417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Best Checkpoint Selection using Validation F1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5518394"/>
            <a:ext cx="4659363" cy="248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9"/>
              </a:lnSpc>
            </a:pPr>
            <a:r>
              <a:rPr lang="en-US" sz="205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Monitored validation F1 score across epochs. Selected checkpoint with highest F1 (not just accuracy). Prevents overfitting while optimizing for balanced performance across all classes.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5D1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3121" y="844448"/>
            <a:ext cx="9569276" cy="79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0"/>
              </a:lnSpc>
            </a:pPr>
            <a:r>
              <a:rPr lang="en-US" sz="5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Deployment &amp; Reproducibility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3121" y="1743227"/>
            <a:ext cx="2671539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Key Components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8359" y="2509990"/>
            <a:ext cx="5356917" cy="2845746"/>
            <a:chOff x="0" y="0"/>
            <a:chExt cx="7142556" cy="37943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7129907" cy="3781552"/>
            </a:xfrm>
            <a:custGeom>
              <a:avLst/>
              <a:gdLst/>
              <a:ahLst/>
              <a:cxnLst/>
              <a:rect r="r" b="b" t="t" l="l"/>
              <a:pathLst>
                <a:path h="3781552" w="7129907">
                  <a:moveTo>
                    <a:pt x="0" y="142875"/>
                  </a:moveTo>
                  <a:cubicBezTo>
                    <a:pt x="0" y="64008"/>
                    <a:pt x="64135" y="0"/>
                    <a:pt x="143129" y="0"/>
                  </a:cubicBezTo>
                  <a:lnTo>
                    <a:pt x="6986778" y="0"/>
                  </a:lnTo>
                  <a:cubicBezTo>
                    <a:pt x="7065772" y="0"/>
                    <a:pt x="7129907" y="64008"/>
                    <a:pt x="7129907" y="142875"/>
                  </a:cubicBezTo>
                  <a:lnTo>
                    <a:pt x="7129907" y="3638677"/>
                  </a:lnTo>
                  <a:cubicBezTo>
                    <a:pt x="7129907" y="3717544"/>
                    <a:pt x="7065772" y="3781552"/>
                    <a:pt x="6986778" y="3781552"/>
                  </a:cubicBezTo>
                  <a:lnTo>
                    <a:pt x="143129" y="3781552"/>
                  </a:lnTo>
                  <a:cubicBezTo>
                    <a:pt x="64135" y="3781679"/>
                    <a:pt x="0" y="3717671"/>
                    <a:pt x="0" y="363867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42607" cy="3794252"/>
            </a:xfrm>
            <a:custGeom>
              <a:avLst/>
              <a:gdLst/>
              <a:ahLst/>
              <a:cxnLst/>
              <a:rect r="r" b="b" t="t" l="l"/>
              <a:pathLst>
                <a:path h="3794252" w="7142607">
                  <a:moveTo>
                    <a:pt x="0" y="149225"/>
                  </a:moveTo>
                  <a:cubicBezTo>
                    <a:pt x="0" y="66802"/>
                    <a:pt x="66929" y="0"/>
                    <a:pt x="149479" y="0"/>
                  </a:cubicBezTo>
                  <a:lnTo>
                    <a:pt x="6993128" y="0"/>
                  </a:lnTo>
                  <a:lnTo>
                    <a:pt x="6993128" y="6350"/>
                  </a:lnTo>
                  <a:lnTo>
                    <a:pt x="6993128" y="0"/>
                  </a:lnTo>
                  <a:cubicBezTo>
                    <a:pt x="7075678" y="0"/>
                    <a:pt x="7142607" y="66802"/>
                    <a:pt x="7142607" y="149225"/>
                  </a:cubicBezTo>
                  <a:lnTo>
                    <a:pt x="7136257" y="149225"/>
                  </a:lnTo>
                  <a:lnTo>
                    <a:pt x="7142607" y="149225"/>
                  </a:lnTo>
                  <a:lnTo>
                    <a:pt x="7142607" y="3645027"/>
                  </a:lnTo>
                  <a:lnTo>
                    <a:pt x="7136257" y="3645027"/>
                  </a:lnTo>
                  <a:lnTo>
                    <a:pt x="7142607" y="3645027"/>
                  </a:lnTo>
                  <a:cubicBezTo>
                    <a:pt x="7142607" y="3727450"/>
                    <a:pt x="7075678" y="3794252"/>
                    <a:pt x="6993128" y="3794252"/>
                  </a:cubicBezTo>
                  <a:lnTo>
                    <a:pt x="6993128" y="3787902"/>
                  </a:lnTo>
                  <a:lnTo>
                    <a:pt x="6993128" y="3794252"/>
                  </a:lnTo>
                  <a:lnTo>
                    <a:pt x="149479" y="3794252"/>
                  </a:lnTo>
                  <a:lnTo>
                    <a:pt x="149479" y="3787902"/>
                  </a:lnTo>
                  <a:lnTo>
                    <a:pt x="149479" y="3794252"/>
                  </a:lnTo>
                  <a:cubicBezTo>
                    <a:pt x="66929" y="3794379"/>
                    <a:pt x="0" y="3727450"/>
                    <a:pt x="0" y="364502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645027"/>
                  </a:lnTo>
                  <a:lnTo>
                    <a:pt x="6350" y="3645027"/>
                  </a:lnTo>
                  <a:lnTo>
                    <a:pt x="12700" y="3645027"/>
                  </a:lnTo>
                  <a:cubicBezTo>
                    <a:pt x="12700" y="3720465"/>
                    <a:pt x="73914" y="3781552"/>
                    <a:pt x="149479" y="3781552"/>
                  </a:cubicBezTo>
                  <a:lnTo>
                    <a:pt x="6993128" y="3781552"/>
                  </a:lnTo>
                  <a:cubicBezTo>
                    <a:pt x="7068693" y="3781552"/>
                    <a:pt x="7129907" y="3720465"/>
                    <a:pt x="7129907" y="3645027"/>
                  </a:cubicBezTo>
                  <a:lnTo>
                    <a:pt x="7129907" y="149225"/>
                  </a:lnTo>
                  <a:cubicBezTo>
                    <a:pt x="7129907" y="73787"/>
                    <a:pt x="7068693" y="12700"/>
                    <a:pt x="6993128" y="12700"/>
                  </a:cubicBezTo>
                  <a:lnTo>
                    <a:pt x="149479" y="12700"/>
                  </a:lnTo>
                  <a:lnTo>
                    <a:pt x="149479" y="6350"/>
                  </a:lnTo>
                  <a:lnTo>
                    <a:pt x="149479" y="12700"/>
                  </a:lnTo>
                  <a:cubicBezTo>
                    <a:pt x="73914" y="12700"/>
                    <a:pt x="12700" y="73787"/>
                    <a:pt x="12700" y="149225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7735" y="2779366"/>
            <a:ext cx="765419" cy="765419"/>
            <a:chOff x="0" y="0"/>
            <a:chExt cx="1020559" cy="1020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0572" cy="1020572"/>
            </a:xfrm>
            <a:custGeom>
              <a:avLst/>
              <a:gdLst/>
              <a:ahLst/>
              <a:cxnLst/>
              <a:rect r="r" b="b" t="t" l="l"/>
              <a:pathLst>
                <a:path h="1020572" w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B6B2AF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368181" y="2989812"/>
            <a:ext cx="344386" cy="344386"/>
          </a:xfrm>
          <a:custGeom>
            <a:avLst/>
            <a:gdLst/>
            <a:ahLst/>
            <a:cxnLst/>
            <a:rect r="r" b="b" t="t" l="l"/>
            <a:pathLst>
              <a:path h="344386" w="344386">
                <a:moveTo>
                  <a:pt x="0" y="0"/>
                </a:moveTo>
                <a:lnTo>
                  <a:pt x="344385" y="0"/>
                </a:lnTo>
                <a:lnTo>
                  <a:pt x="344385" y="344386"/>
                </a:lnTo>
                <a:lnTo>
                  <a:pt x="0" y="344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161" t="0" r="-1216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57735" y="3745859"/>
            <a:ext cx="3122340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Docker Deployment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735" y="4253503"/>
            <a:ext cx="481816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Containerized model + tokenizer. Inference API ready.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65389" y="2509990"/>
            <a:ext cx="5357070" cy="2845746"/>
            <a:chOff x="0" y="0"/>
            <a:chExt cx="7142759" cy="37943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7130035" cy="3781552"/>
            </a:xfrm>
            <a:custGeom>
              <a:avLst/>
              <a:gdLst/>
              <a:ahLst/>
              <a:cxnLst/>
              <a:rect r="r" b="b" t="t" l="l"/>
              <a:pathLst>
                <a:path h="3781552" w="7130035">
                  <a:moveTo>
                    <a:pt x="0" y="142875"/>
                  </a:moveTo>
                  <a:cubicBezTo>
                    <a:pt x="0" y="64008"/>
                    <a:pt x="64135" y="0"/>
                    <a:pt x="143129" y="0"/>
                  </a:cubicBezTo>
                  <a:lnTo>
                    <a:pt x="6986905" y="0"/>
                  </a:lnTo>
                  <a:cubicBezTo>
                    <a:pt x="7065899" y="0"/>
                    <a:pt x="7130035" y="64008"/>
                    <a:pt x="7130035" y="142875"/>
                  </a:cubicBezTo>
                  <a:lnTo>
                    <a:pt x="7130035" y="3638677"/>
                  </a:lnTo>
                  <a:cubicBezTo>
                    <a:pt x="7130035" y="3717544"/>
                    <a:pt x="7065899" y="3781552"/>
                    <a:pt x="6986905" y="3781552"/>
                  </a:cubicBezTo>
                  <a:lnTo>
                    <a:pt x="143129" y="3781552"/>
                  </a:lnTo>
                  <a:cubicBezTo>
                    <a:pt x="64135" y="3781679"/>
                    <a:pt x="0" y="3717671"/>
                    <a:pt x="0" y="363867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42735" cy="3794252"/>
            </a:xfrm>
            <a:custGeom>
              <a:avLst/>
              <a:gdLst/>
              <a:ahLst/>
              <a:cxnLst/>
              <a:rect r="r" b="b" t="t" l="l"/>
              <a:pathLst>
                <a:path h="3794252" w="7142735">
                  <a:moveTo>
                    <a:pt x="0" y="149225"/>
                  </a:moveTo>
                  <a:cubicBezTo>
                    <a:pt x="0" y="66802"/>
                    <a:pt x="66929" y="0"/>
                    <a:pt x="149479" y="0"/>
                  </a:cubicBezTo>
                  <a:lnTo>
                    <a:pt x="6993255" y="0"/>
                  </a:lnTo>
                  <a:lnTo>
                    <a:pt x="6993255" y="6350"/>
                  </a:lnTo>
                  <a:lnTo>
                    <a:pt x="6993255" y="0"/>
                  </a:lnTo>
                  <a:cubicBezTo>
                    <a:pt x="7075805" y="0"/>
                    <a:pt x="7142735" y="66802"/>
                    <a:pt x="7142735" y="149225"/>
                  </a:cubicBezTo>
                  <a:lnTo>
                    <a:pt x="7136385" y="149225"/>
                  </a:lnTo>
                  <a:lnTo>
                    <a:pt x="7142735" y="149225"/>
                  </a:lnTo>
                  <a:lnTo>
                    <a:pt x="7142735" y="3645027"/>
                  </a:lnTo>
                  <a:lnTo>
                    <a:pt x="7136385" y="3645027"/>
                  </a:lnTo>
                  <a:lnTo>
                    <a:pt x="7142735" y="3645027"/>
                  </a:lnTo>
                  <a:cubicBezTo>
                    <a:pt x="7142735" y="3727450"/>
                    <a:pt x="7075805" y="3794252"/>
                    <a:pt x="6993255" y="3794252"/>
                  </a:cubicBezTo>
                  <a:lnTo>
                    <a:pt x="6993255" y="3787902"/>
                  </a:lnTo>
                  <a:lnTo>
                    <a:pt x="6993255" y="3794252"/>
                  </a:lnTo>
                  <a:lnTo>
                    <a:pt x="149479" y="3794252"/>
                  </a:lnTo>
                  <a:lnTo>
                    <a:pt x="149479" y="3787902"/>
                  </a:lnTo>
                  <a:lnTo>
                    <a:pt x="149479" y="3794252"/>
                  </a:lnTo>
                  <a:cubicBezTo>
                    <a:pt x="66929" y="3794379"/>
                    <a:pt x="0" y="3727450"/>
                    <a:pt x="0" y="364502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645027"/>
                  </a:lnTo>
                  <a:lnTo>
                    <a:pt x="6350" y="3645027"/>
                  </a:lnTo>
                  <a:lnTo>
                    <a:pt x="12700" y="3645027"/>
                  </a:lnTo>
                  <a:cubicBezTo>
                    <a:pt x="12700" y="3720465"/>
                    <a:pt x="73914" y="3781552"/>
                    <a:pt x="149479" y="3781552"/>
                  </a:cubicBezTo>
                  <a:lnTo>
                    <a:pt x="6993255" y="3781552"/>
                  </a:lnTo>
                  <a:cubicBezTo>
                    <a:pt x="7068820" y="3781552"/>
                    <a:pt x="7130035" y="3720465"/>
                    <a:pt x="7130035" y="3645027"/>
                  </a:cubicBezTo>
                  <a:lnTo>
                    <a:pt x="7130035" y="149225"/>
                  </a:lnTo>
                  <a:cubicBezTo>
                    <a:pt x="7130034" y="73787"/>
                    <a:pt x="7068820" y="12700"/>
                    <a:pt x="6993255" y="12700"/>
                  </a:cubicBezTo>
                  <a:lnTo>
                    <a:pt x="149479" y="12700"/>
                  </a:lnTo>
                  <a:lnTo>
                    <a:pt x="149479" y="6350"/>
                  </a:lnTo>
                  <a:lnTo>
                    <a:pt x="149479" y="12700"/>
                  </a:lnTo>
                  <a:cubicBezTo>
                    <a:pt x="73914" y="12700"/>
                    <a:pt x="12700" y="73787"/>
                    <a:pt x="12700" y="149225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34766" y="2779366"/>
            <a:ext cx="765419" cy="765419"/>
            <a:chOff x="0" y="0"/>
            <a:chExt cx="1020559" cy="1020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0572" cy="1020572"/>
            </a:xfrm>
            <a:custGeom>
              <a:avLst/>
              <a:gdLst/>
              <a:ahLst/>
              <a:cxnLst/>
              <a:rect r="r" b="b" t="t" l="l"/>
              <a:pathLst>
                <a:path h="1020572" w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B6B2AF"/>
            </a:solid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6945211" y="2989812"/>
            <a:ext cx="344386" cy="344386"/>
          </a:xfrm>
          <a:custGeom>
            <a:avLst/>
            <a:gdLst/>
            <a:ahLst/>
            <a:cxnLst/>
            <a:rect r="r" b="b" t="t" l="l"/>
            <a:pathLst>
              <a:path h="344386" w="344386">
                <a:moveTo>
                  <a:pt x="0" y="0"/>
                </a:moveTo>
                <a:lnTo>
                  <a:pt x="344386" y="0"/>
                </a:lnTo>
                <a:lnTo>
                  <a:pt x="344386" y="344386"/>
                </a:lnTo>
                <a:lnTo>
                  <a:pt x="0" y="3443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054" t="0" r="-4054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34766" y="3745859"/>
            <a:ext cx="2514377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Model Artifacts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34766" y="4253503"/>
            <a:ext cx="481830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Saved model, tokenizer, results.json. Reproducible from seed.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42572" y="2509990"/>
            <a:ext cx="5357070" cy="2845746"/>
            <a:chOff x="0" y="0"/>
            <a:chExt cx="7142759" cy="37943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7130035" cy="3781552"/>
            </a:xfrm>
            <a:custGeom>
              <a:avLst/>
              <a:gdLst/>
              <a:ahLst/>
              <a:cxnLst/>
              <a:rect r="r" b="b" t="t" l="l"/>
              <a:pathLst>
                <a:path h="3781552" w="7130035">
                  <a:moveTo>
                    <a:pt x="0" y="142875"/>
                  </a:moveTo>
                  <a:cubicBezTo>
                    <a:pt x="0" y="64008"/>
                    <a:pt x="64135" y="0"/>
                    <a:pt x="143129" y="0"/>
                  </a:cubicBezTo>
                  <a:lnTo>
                    <a:pt x="6986905" y="0"/>
                  </a:lnTo>
                  <a:cubicBezTo>
                    <a:pt x="7065899" y="0"/>
                    <a:pt x="7130035" y="64008"/>
                    <a:pt x="7130035" y="142875"/>
                  </a:cubicBezTo>
                  <a:lnTo>
                    <a:pt x="7130035" y="3638677"/>
                  </a:lnTo>
                  <a:cubicBezTo>
                    <a:pt x="7130035" y="3717544"/>
                    <a:pt x="7065899" y="3781552"/>
                    <a:pt x="6986905" y="3781552"/>
                  </a:cubicBezTo>
                  <a:lnTo>
                    <a:pt x="143129" y="3781552"/>
                  </a:lnTo>
                  <a:cubicBezTo>
                    <a:pt x="64135" y="3781679"/>
                    <a:pt x="0" y="3717671"/>
                    <a:pt x="0" y="363867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42735" cy="3794252"/>
            </a:xfrm>
            <a:custGeom>
              <a:avLst/>
              <a:gdLst/>
              <a:ahLst/>
              <a:cxnLst/>
              <a:rect r="r" b="b" t="t" l="l"/>
              <a:pathLst>
                <a:path h="3794252" w="7142735">
                  <a:moveTo>
                    <a:pt x="0" y="149225"/>
                  </a:moveTo>
                  <a:cubicBezTo>
                    <a:pt x="0" y="66802"/>
                    <a:pt x="66929" y="0"/>
                    <a:pt x="149479" y="0"/>
                  </a:cubicBezTo>
                  <a:lnTo>
                    <a:pt x="6993255" y="0"/>
                  </a:lnTo>
                  <a:lnTo>
                    <a:pt x="6993255" y="6350"/>
                  </a:lnTo>
                  <a:lnTo>
                    <a:pt x="6993255" y="0"/>
                  </a:lnTo>
                  <a:cubicBezTo>
                    <a:pt x="7075805" y="0"/>
                    <a:pt x="7142735" y="66802"/>
                    <a:pt x="7142735" y="149225"/>
                  </a:cubicBezTo>
                  <a:lnTo>
                    <a:pt x="7136385" y="149225"/>
                  </a:lnTo>
                  <a:lnTo>
                    <a:pt x="7142735" y="149225"/>
                  </a:lnTo>
                  <a:lnTo>
                    <a:pt x="7142735" y="3645027"/>
                  </a:lnTo>
                  <a:lnTo>
                    <a:pt x="7136385" y="3645027"/>
                  </a:lnTo>
                  <a:lnTo>
                    <a:pt x="7142735" y="3645027"/>
                  </a:lnTo>
                  <a:cubicBezTo>
                    <a:pt x="7142735" y="3727450"/>
                    <a:pt x="7075805" y="3794252"/>
                    <a:pt x="6993255" y="3794252"/>
                  </a:cubicBezTo>
                  <a:lnTo>
                    <a:pt x="6993255" y="3787902"/>
                  </a:lnTo>
                  <a:lnTo>
                    <a:pt x="6993255" y="3794252"/>
                  </a:lnTo>
                  <a:lnTo>
                    <a:pt x="149479" y="3794252"/>
                  </a:lnTo>
                  <a:lnTo>
                    <a:pt x="149479" y="3787902"/>
                  </a:lnTo>
                  <a:lnTo>
                    <a:pt x="149479" y="3794252"/>
                  </a:lnTo>
                  <a:cubicBezTo>
                    <a:pt x="66929" y="3794379"/>
                    <a:pt x="0" y="3727450"/>
                    <a:pt x="0" y="364502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645027"/>
                  </a:lnTo>
                  <a:lnTo>
                    <a:pt x="6350" y="3645027"/>
                  </a:lnTo>
                  <a:lnTo>
                    <a:pt x="12700" y="3645027"/>
                  </a:lnTo>
                  <a:cubicBezTo>
                    <a:pt x="12700" y="3720465"/>
                    <a:pt x="73914" y="3781552"/>
                    <a:pt x="149479" y="3781552"/>
                  </a:cubicBezTo>
                  <a:lnTo>
                    <a:pt x="6993255" y="3781552"/>
                  </a:lnTo>
                  <a:cubicBezTo>
                    <a:pt x="7068820" y="3781552"/>
                    <a:pt x="7130035" y="3720465"/>
                    <a:pt x="7130035" y="3645027"/>
                  </a:cubicBezTo>
                  <a:lnTo>
                    <a:pt x="7130035" y="149225"/>
                  </a:lnTo>
                  <a:cubicBezTo>
                    <a:pt x="7130034" y="73787"/>
                    <a:pt x="7068820" y="12700"/>
                    <a:pt x="6993255" y="12700"/>
                  </a:cubicBezTo>
                  <a:lnTo>
                    <a:pt x="149479" y="12700"/>
                  </a:lnTo>
                  <a:lnTo>
                    <a:pt x="149479" y="6350"/>
                  </a:lnTo>
                  <a:lnTo>
                    <a:pt x="149479" y="12700"/>
                  </a:lnTo>
                  <a:cubicBezTo>
                    <a:pt x="73914" y="12700"/>
                    <a:pt x="12700" y="73787"/>
                    <a:pt x="12700" y="149225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11958" y="2779366"/>
            <a:ext cx="765419" cy="765419"/>
            <a:chOff x="0" y="0"/>
            <a:chExt cx="1020559" cy="10205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0572" cy="1020572"/>
            </a:xfrm>
            <a:custGeom>
              <a:avLst/>
              <a:gdLst/>
              <a:ahLst/>
              <a:cxnLst/>
              <a:rect r="r" b="b" t="t" l="l"/>
              <a:pathLst>
                <a:path h="1020572" w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B6B2AF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2522403" y="2989812"/>
            <a:ext cx="344386" cy="344386"/>
          </a:xfrm>
          <a:custGeom>
            <a:avLst/>
            <a:gdLst/>
            <a:ahLst/>
            <a:cxnLst/>
            <a:rect r="r" b="b" t="t" l="l"/>
            <a:pathLst>
              <a:path h="344386" w="344386">
                <a:moveTo>
                  <a:pt x="0" y="0"/>
                </a:moveTo>
                <a:lnTo>
                  <a:pt x="344386" y="0"/>
                </a:lnTo>
                <a:lnTo>
                  <a:pt x="344386" y="344386"/>
                </a:lnTo>
                <a:lnTo>
                  <a:pt x="0" y="344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109" r="0" b="-8106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311958" y="3745859"/>
            <a:ext cx="2476277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Documentation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11958" y="4253503"/>
            <a:ext cx="481830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Jupyter notebook, README, GitHub repo with clear structure.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3121" y="5666784"/>
            <a:ext cx="3785815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Design for Extensibility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3121" y="6381159"/>
            <a:ext cx="1650176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Show how the system is modular and configurable: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93121" y="7084514"/>
            <a:ext cx="16501767" cy="1673723"/>
            <a:chOff x="0" y="0"/>
            <a:chExt cx="22002356" cy="22316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002369" cy="2231644"/>
            </a:xfrm>
            <a:custGeom>
              <a:avLst/>
              <a:gdLst/>
              <a:ahLst/>
              <a:cxnLst/>
              <a:rect r="r" b="b" t="t" l="l"/>
              <a:pathLst>
                <a:path h="2231644" w="22002369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lnTo>
                    <a:pt x="21859494" y="0"/>
                  </a:lnTo>
                  <a:cubicBezTo>
                    <a:pt x="21938360" y="0"/>
                    <a:pt x="22002369" y="64008"/>
                    <a:pt x="22002369" y="142875"/>
                  </a:cubicBezTo>
                  <a:lnTo>
                    <a:pt x="22002369" y="2088769"/>
                  </a:lnTo>
                  <a:cubicBezTo>
                    <a:pt x="22002369" y="2167636"/>
                    <a:pt x="21938360" y="2231644"/>
                    <a:pt x="21859494" y="2231644"/>
                  </a:cubicBezTo>
                  <a:lnTo>
                    <a:pt x="142875" y="2231644"/>
                  </a:lnTo>
                  <a:cubicBezTo>
                    <a:pt x="64008" y="2231644"/>
                    <a:pt x="0" y="2167636"/>
                    <a:pt x="0" y="2088769"/>
                  </a:cubicBezTo>
                  <a:close/>
                </a:path>
              </a:pathLst>
            </a:custGeom>
            <a:solidFill>
              <a:srgbClr val="B6B2A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80472" y="7084514"/>
            <a:ext cx="16527066" cy="1673723"/>
            <a:chOff x="0" y="0"/>
            <a:chExt cx="22036088" cy="22316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036151" cy="2231644"/>
            </a:xfrm>
            <a:custGeom>
              <a:avLst/>
              <a:gdLst/>
              <a:ahLst/>
              <a:cxnLst/>
              <a:rect r="r" b="b" t="t" l="l"/>
              <a:pathLst>
                <a:path h="2231644" w="22036151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21985097" y="0"/>
                  </a:lnTo>
                  <a:cubicBezTo>
                    <a:pt x="22013290" y="0"/>
                    <a:pt x="22036151" y="22860"/>
                    <a:pt x="22036151" y="51054"/>
                  </a:cubicBezTo>
                  <a:lnTo>
                    <a:pt x="22036151" y="2180590"/>
                  </a:lnTo>
                  <a:cubicBezTo>
                    <a:pt x="22036151" y="2208784"/>
                    <a:pt x="22013290" y="2231644"/>
                    <a:pt x="21985097" y="2231644"/>
                  </a:cubicBezTo>
                  <a:lnTo>
                    <a:pt x="51054" y="2231644"/>
                  </a:lnTo>
                  <a:cubicBezTo>
                    <a:pt x="22860" y="2231644"/>
                    <a:pt x="0" y="2208784"/>
                    <a:pt x="0" y="2180590"/>
                  </a:cubicBezTo>
                  <a:close/>
                </a:path>
              </a:pathLst>
            </a:custGeom>
            <a:solidFill>
              <a:srgbClr val="B6B2A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28700" y="7282453"/>
            <a:ext cx="16230600" cy="112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04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MODEL_NAME = "roberta-base"  ← Swap to "roberta-large", "distilroberta"</a:t>
            </a:r>
          </a:p>
          <a:p>
            <a:pPr algn="l">
              <a:lnSpc>
                <a:spcPts val="3064"/>
              </a:lnSpc>
            </a:pPr>
            <a:r>
              <a:rPr lang="en-US" sz="204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= load_dataset("facebook/anli")  ← Swap to "multi_nli", "snli"</a:t>
            </a:r>
          </a:p>
          <a:p>
            <a:pPr algn="l">
              <a:lnSpc>
                <a:spcPts val="3064"/>
              </a:lnSpc>
            </a:pPr>
            <a:r>
              <a:rPr lang="en-US" sz="204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MAX_LENGTH, LEARNING_RATE, NUM_EPOCHS centralized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3121" y="8959453"/>
            <a:ext cx="1650176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message: Change config once, everything adapts. Reproducible: fixed seed=42, saved models, results.json logged.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5D1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67770"/>
            <a:ext cx="3987626" cy="899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2"/>
              </a:lnSpc>
            </a:pPr>
            <a:r>
              <a:rPr lang="en-US" sz="5662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Takeaways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314852"/>
            <a:ext cx="141684" cy="141684"/>
            <a:chOff x="0" y="0"/>
            <a:chExt cx="188912" cy="1889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17434" y="3073156"/>
            <a:ext cx="15878327" cy="4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Transformers significantly outperform classical baselines (+36%)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4335513"/>
            <a:ext cx="141684" cy="141684"/>
            <a:chOff x="0" y="0"/>
            <a:chExt cx="188912" cy="18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17434" y="4093816"/>
            <a:ext cx="15878327" cy="4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ANLI requires semantic reasoning; word overlap insufficient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5356174"/>
            <a:ext cx="141684" cy="141684"/>
            <a:chOff x="0" y="0"/>
            <a:chExt cx="188912" cy="1889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17434" y="5114477"/>
            <a:ext cx="15878327" cy="4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Every hyperparameter choice justified by experimentation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238" y="6376835"/>
            <a:ext cx="141684" cy="141684"/>
            <a:chOff x="0" y="0"/>
            <a:chExt cx="188912" cy="1889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17434" y="6135138"/>
            <a:ext cx="15878327" cy="4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Pipeline modular: swap datasets, models, hyperparams easily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397506"/>
            <a:ext cx="141684" cy="141684"/>
            <a:chOff x="0" y="0"/>
            <a:chExt cx="188912" cy="1889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9B979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17434" y="7155809"/>
            <a:ext cx="15878327" cy="42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Error analysis reveals specific failure modes (negation, temporal reasoning)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7909322"/>
            <a:ext cx="16303523" cy="47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3"/>
              </a:lnSpc>
            </a:pPr>
            <a:r>
              <a:rPr lang="en-US" sz="2505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47.6% on ANLI reflects rigorous ML development, understanding tradeoffs, not just chasing metrics.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5D1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10403"/>
            <a:ext cx="4524673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Future Work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796751"/>
            <a:ext cx="5254971" cy="4146499"/>
            <a:chOff x="0" y="0"/>
            <a:chExt cx="7006628" cy="55286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5515864"/>
            </a:xfrm>
            <a:custGeom>
              <a:avLst/>
              <a:gdLst/>
              <a:ahLst/>
              <a:cxnLst/>
              <a:rect r="r" b="b" t="t" l="l"/>
              <a:pathLst>
                <a:path h="551586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357114"/>
                  </a:lnTo>
                  <a:cubicBezTo>
                    <a:pt x="6993890" y="5444871"/>
                    <a:pt x="6922770" y="5515864"/>
                    <a:pt x="6835013" y="5515864"/>
                  </a:cubicBezTo>
                  <a:lnTo>
                    <a:pt x="158877" y="5515864"/>
                  </a:lnTo>
                  <a:cubicBezTo>
                    <a:pt x="71120" y="5515991"/>
                    <a:pt x="0" y="5444871"/>
                    <a:pt x="0" y="5357114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5528564"/>
            </a:xfrm>
            <a:custGeom>
              <a:avLst/>
              <a:gdLst/>
              <a:ahLst/>
              <a:cxnLst/>
              <a:rect r="r" b="b" t="t" l="l"/>
              <a:pathLst>
                <a:path h="552856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5363464"/>
                  </a:lnTo>
                  <a:lnTo>
                    <a:pt x="7000240" y="5363464"/>
                  </a:lnTo>
                  <a:lnTo>
                    <a:pt x="7006590" y="5363464"/>
                  </a:lnTo>
                  <a:cubicBezTo>
                    <a:pt x="7006590" y="5454650"/>
                    <a:pt x="6932549" y="5528564"/>
                    <a:pt x="6841363" y="5528564"/>
                  </a:cubicBezTo>
                  <a:lnTo>
                    <a:pt x="6841363" y="5522214"/>
                  </a:lnTo>
                  <a:lnTo>
                    <a:pt x="6841363" y="5528564"/>
                  </a:lnTo>
                  <a:lnTo>
                    <a:pt x="165227" y="5528564"/>
                  </a:lnTo>
                  <a:lnTo>
                    <a:pt x="165227" y="5522214"/>
                  </a:lnTo>
                  <a:lnTo>
                    <a:pt x="165227" y="5528564"/>
                  </a:lnTo>
                  <a:cubicBezTo>
                    <a:pt x="73914" y="5528564"/>
                    <a:pt x="0" y="5454650"/>
                    <a:pt x="0" y="536346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363464"/>
                  </a:lnTo>
                  <a:lnTo>
                    <a:pt x="6350" y="5363464"/>
                  </a:lnTo>
                  <a:lnTo>
                    <a:pt x="12700" y="5363464"/>
                  </a:lnTo>
                  <a:cubicBezTo>
                    <a:pt x="12700" y="5447665"/>
                    <a:pt x="81026" y="5515864"/>
                    <a:pt x="165227" y="5515864"/>
                  </a:cubicBezTo>
                  <a:lnTo>
                    <a:pt x="6841363" y="5515864"/>
                  </a:lnTo>
                  <a:cubicBezTo>
                    <a:pt x="6925564" y="5515864"/>
                    <a:pt x="6993890" y="5447665"/>
                    <a:pt x="6993890" y="536346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4094559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6B2AF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316" r="0" b="-73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5209584"/>
            <a:ext cx="3782244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Combine ANLI R1 + R2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5755929"/>
            <a:ext cx="4659363" cy="86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More data. Test transfer across adversarial rounds.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3796751"/>
            <a:ext cx="5254971" cy="4146499"/>
            <a:chOff x="0" y="0"/>
            <a:chExt cx="7006628" cy="55286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5515864"/>
            </a:xfrm>
            <a:custGeom>
              <a:avLst/>
              <a:gdLst/>
              <a:ahLst/>
              <a:cxnLst/>
              <a:rect r="r" b="b" t="t" l="l"/>
              <a:pathLst>
                <a:path h="551586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357114"/>
                  </a:lnTo>
                  <a:cubicBezTo>
                    <a:pt x="6993890" y="5444871"/>
                    <a:pt x="6922770" y="5515864"/>
                    <a:pt x="6835013" y="5515864"/>
                  </a:cubicBezTo>
                  <a:lnTo>
                    <a:pt x="158877" y="5515864"/>
                  </a:lnTo>
                  <a:cubicBezTo>
                    <a:pt x="71120" y="5515991"/>
                    <a:pt x="0" y="5444871"/>
                    <a:pt x="0" y="5357114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5528564"/>
            </a:xfrm>
            <a:custGeom>
              <a:avLst/>
              <a:gdLst/>
              <a:ahLst/>
              <a:cxnLst/>
              <a:rect r="r" b="b" t="t" l="l"/>
              <a:pathLst>
                <a:path h="552856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5363464"/>
                  </a:lnTo>
                  <a:lnTo>
                    <a:pt x="7000240" y="5363464"/>
                  </a:lnTo>
                  <a:lnTo>
                    <a:pt x="7006590" y="5363464"/>
                  </a:lnTo>
                  <a:cubicBezTo>
                    <a:pt x="7006590" y="5454650"/>
                    <a:pt x="6932549" y="5528564"/>
                    <a:pt x="6841363" y="5528564"/>
                  </a:cubicBezTo>
                  <a:lnTo>
                    <a:pt x="6841363" y="5522214"/>
                  </a:lnTo>
                  <a:lnTo>
                    <a:pt x="6841363" y="5528564"/>
                  </a:lnTo>
                  <a:lnTo>
                    <a:pt x="165227" y="5528564"/>
                  </a:lnTo>
                  <a:lnTo>
                    <a:pt x="165227" y="5522214"/>
                  </a:lnTo>
                  <a:lnTo>
                    <a:pt x="165227" y="5528564"/>
                  </a:lnTo>
                  <a:cubicBezTo>
                    <a:pt x="73914" y="5528564"/>
                    <a:pt x="0" y="5454650"/>
                    <a:pt x="0" y="536346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363464"/>
                  </a:lnTo>
                  <a:lnTo>
                    <a:pt x="6350" y="5363464"/>
                  </a:lnTo>
                  <a:lnTo>
                    <a:pt x="12700" y="5363464"/>
                  </a:lnTo>
                  <a:cubicBezTo>
                    <a:pt x="12700" y="5447665"/>
                    <a:pt x="81026" y="5515864"/>
                    <a:pt x="165227" y="5515864"/>
                  </a:cubicBezTo>
                  <a:lnTo>
                    <a:pt x="6841363" y="5515864"/>
                  </a:lnTo>
                  <a:cubicBezTo>
                    <a:pt x="6925564" y="5515864"/>
                    <a:pt x="6993890" y="5447665"/>
                    <a:pt x="6993890" y="536346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2" y="4094559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6B2AF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5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854" t="0" r="-15851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2" y="5209584"/>
            <a:ext cx="4659363" cy="8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Domain-Specific Pre-training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2" y="6189316"/>
            <a:ext cx="4659363" cy="129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16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Fine-tune RoBERTa on MNLI/SNLI first, then ANLI. Shows transfer learning mastery.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1" y="3796751"/>
            <a:ext cx="5254971" cy="4146499"/>
            <a:chOff x="0" y="0"/>
            <a:chExt cx="7006628" cy="55286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5515864"/>
            </a:xfrm>
            <a:custGeom>
              <a:avLst/>
              <a:gdLst/>
              <a:ahLst/>
              <a:cxnLst/>
              <a:rect r="r" b="b" t="t" l="l"/>
              <a:pathLst>
                <a:path h="551586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357114"/>
                  </a:lnTo>
                  <a:cubicBezTo>
                    <a:pt x="6993890" y="5444871"/>
                    <a:pt x="6922770" y="5515864"/>
                    <a:pt x="6835013" y="5515864"/>
                  </a:cubicBezTo>
                  <a:lnTo>
                    <a:pt x="158877" y="5515864"/>
                  </a:lnTo>
                  <a:cubicBezTo>
                    <a:pt x="71120" y="5515991"/>
                    <a:pt x="0" y="5444871"/>
                    <a:pt x="0" y="5357114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5528564"/>
            </a:xfrm>
            <a:custGeom>
              <a:avLst/>
              <a:gdLst/>
              <a:ahLst/>
              <a:cxnLst/>
              <a:rect r="r" b="b" t="t" l="l"/>
              <a:pathLst>
                <a:path h="552856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5363464"/>
                  </a:lnTo>
                  <a:lnTo>
                    <a:pt x="7000240" y="5363464"/>
                  </a:lnTo>
                  <a:lnTo>
                    <a:pt x="7006590" y="5363464"/>
                  </a:lnTo>
                  <a:cubicBezTo>
                    <a:pt x="7006590" y="5454650"/>
                    <a:pt x="6932549" y="5528564"/>
                    <a:pt x="6841363" y="5528564"/>
                  </a:cubicBezTo>
                  <a:lnTo>
                    <a:pt x="6841363" y="5522214"/>
                  </a:lnTo>
                  <a:lnTo>
                    <a:pt x="6841363" y="5528564"/>
                  </a:lnTo>
                  <a:lnTo>
                    <a:pt x="165227" y="5528564"/>
                  </a:lnTo>
                  <a:lnTo>
                    <a:pt x="165227" y="5522214"/>
                  </a:lnTo>
                  <a:lnTo>
                    <a:pt x="165227" y="5528564"/>
                  </a:lnTo>
                  <a:cubicBezTo>
                    <a:pt x="73914" y="5528564"/>
                    <a:pt x="0" y="5454650"/>
                    <a:pt x="0" y="536346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363464"/>
                  </a:lnTo>
                  <a:lnTo>
                    <a:pt x="6350" y="5363464"/>
                  </a:lnTo>
                  <a:lnTo>
                    <a:pt x="12700" y="5363464"/>
                  </a:lnTo>
                  <a:cubicBezTo>
                    <a:pt x="12700" y="5447665"/>
                    <a:pt x="81026" y="5515864"/>
                    <a:pt x="165227" y="5515864"/>
                  </a:cubicBezTo>
                  <a:lnTo>
                    <a:pt x="6841363" y="5515864"/>
                  </a:lnTo>
                  <a:cubicBezTo>
                    <a:pt x="6925564" y="5515864"/>
                    <a:pt x="6993890" y="5447665"/>
                    <a:pt x="6993890" y="536346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4094559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6B2AF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195" r="0" b="-12195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5209584"/>
            <a:ext cx="4189065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Ensemble &amp; Robustness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5765454"/>
            <a:ext cx="4659363" cy="75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190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Multi-seed training. Test on ANLI R1, R3. Proves reproducibility, not luck.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DAHFlfRgly4</dc:identifier>
  <dcterms:modified xsi:type="dcterms:W3CDTF">2011-08-01T06:04:30Z</dcterms:modified>
  <cp:revision>1</cp:revision>
  <dc:title>ANLI-Multi-Class-Classification.pptx</dc:title>
</cp:coreProperties>
</file>